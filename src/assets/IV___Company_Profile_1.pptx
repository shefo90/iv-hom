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e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image" Target="../media/image-18-3.png"/><Relationship Id="rId4" Type="http://schemas.openxmlformats.org/officeDocument/2006/relationships/image" Target="../media/image-1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jpe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22bdd040c32e66fa4e896e899f1f56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pic>
        <p:nvPicPr>
          <p:cNvPr id="3" name="Image 1" descr="gen-dedup-10f52151a2fd94269ad723b96ae340f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571500"/>
            <a:ext cx="24195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HS WOOD INDUSTRIES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16509492" y="571500"/>
            <a:ext cx="8668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MMXXVI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2190902"/>
            <a:ext cx="7620610" cy="3238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0" spc="-51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IV</a:t>
            </a:r>
            <a:pPr algn="l" indent="0" marL="0">
              <a:buNone/>
            </a:pPr>
            <a:r>
              <a:rPr lang="en-US" sz="25500" spc="-510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255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6476695"/>
            <a:ext cx="7810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432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FOURTH GENERATION · INDUSTRY 4.0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6953098"/>
            <a:ext cx="8572500" cy="141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spc="-48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fixed-furniture manufactory,</a:t>
            </a:r>
            <a:pPr algn="l" indent="0" marL="0">
              <a:buNone/>
            </a:pPr>
            <a:endParaRPr lang="en-US" sz="4800" dirty="0"/>
          </a:p>
          <a:p>
            <a:pPr algn="l" indent="0" marL="0">
              <a:buNone/>
            </a:pPr>
            <a:r>
              <a:rPr lang="en-US" sz="4800" spc="-48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engineered for those who </a:t>
            </a:r>
            <a:pPr algn="l" indent="0" marL="0">
              <a:buNone/>
            </a:pPr>
            <a:r>
              <a:rPr lang="en-US" sz="4800" i="1" spc="-48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specify.</a:t>
            </a:r>
            <a:endParaRPr lang="en-US" sz="48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9648749"/>
            <a:ext cx="20391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PROFILE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6606418" y="9648749"/>
            <a:ext cx="9052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20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848bd72aac2a39a30ff03fdcf0a9b7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3598" y="1619402"/>
            <a:ext cx="6286500" cy="6286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571500"/>
            <a:ext cx="268467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 · COMPANY PROFILE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6577158" y="571500"/>
            <a:ext cx="90708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20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9648749"/>
            <a:ext cx="24195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HS WOOD INDUSTRIES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6216884" y="9648749"/>
            <a:ext cx="11622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619402"/>
            <a:ext cx="381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432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000707"/>
            <a:ext cx="8572500" cy="1571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0" spc="-225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Contents</a:t>
            </a:r>
            <a:pPr algn="l" indent="0" marL="0">
              <a:buNone/>
            </a:pPr>
            <a:r>
              <a:rPr lang="en-US" sz="11200" spc="-225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112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878885"/>
            <a:ext cx="8572500" cy="779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journey through our craft — from the story behind IV</a:t>
            </a:r>
            <a:pPr algn="l" indent="0" marL="0">
              <a:lnSpc>
                <a:spcPts val="2940"/>
              </a:lnSpc>
              <a:buNone/>
            </a:pPr>
            <a:endParaRPr lang="en-US" sz="2100" dirty="0"/>
          </a:p>
          <a:p>
            <a:pPr algn="l" indent="0" marL="0">
              <a:lnSpc>
                <a:spcPts val="2940"/>
              </a:lnSpc>
              <a:buNone/>
            </a:pPr>
            <a:r>
              <a:rPr lang="en-US" sz="21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to the projects we build.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914400" y="5524805"/>
            <a:ext cx="8572500" cy="9144"/>
          </a:xfrm>
          <a:prstGeom prst="rect">
            <a:avLst/>
          </a:prstGeom>
          <a:solidFill>
            <a:srgbClr val="2A2723"/>
          </a:solidFill>
          <a:ln w="12700">
            <a:solidFill>
              <a:srgbClr val="2A2723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5743346"/>
            <a:ext cx="571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I.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904695" y="5743346"/>
            <a:ext cx="646755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3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Brand &amp; the Story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8787384" y="5838444"/>
            <a:ext cx="7050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324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03–07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14400" y="6277356"/>
            <a:ext cx="8572500" cy="9144"/>
          </a:xfrm>
          <a:prstGeom prst="rect">
            <a:avLst/>
          </a:prstGeom>
          <a:solidFill>
            <a:srgbClr val="2A2723"/>
          </a:solidFill>
          <a:ln w="12700">
            <a:solidFill>
              <a:srgbClr val="2A2723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6495898"/>
            <a:ext cx="571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II.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1904695" y="6495898"/>
            <a:ext cx="649681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3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Craft &amp; the Machine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8812987" y="6590995"/>
            <a:ext cx="70683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324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08–13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14400" y="7029907"/>
            <a:ext cx="8572500" cy="761695"/>
          </a:xfrm>
          <a:prstGeom prst="rect">
            <a:avLst/>
          </a:prstGeom>
          <a:noFill/>
          <a:ln w="12700">
            <a:solidFill>
              <a:srgbClr val="2A272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7248449"/>
            <a:ext cx="663854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III.</a:t>
            </a:r>
            <a:endParaRPr lang="en-US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1904695" y="7248449"/>
            <a:ext cx="6486754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3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Projects &amp; the Partnership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8809330" y="7343546"/>
            <a:ext cx="6858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324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14–20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0953598" y="8096098"/>
            <a:ext cx="6286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— Signature kitchen, IV production line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953598" y="8524951"/>
            <a:ext cx="63825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0953598" y="8858707"/>
            <a:ext cx="2000707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450</a:t>
            </a:r>
            <a:pPr algn="l" indent="0" marL="0">
              <a:buNone/>
            </a:pPr>
            <a:r>
              <a:rPr lang="en-US" sz="390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3900" dirty="0"/>
          </a:p>
        </p:txBody>
      </p:sp>
      <p:sp>
        <p:nvSpPr>
          <p:cNvPr id="25" name="Text 22"/>
          <p:cNvSpPr txBox="1"/>
          <p:nvPr/>
        </p:nvSpPr>
        <p:spPr>
          <a:xfrm>
            <a:off x="10953598" y="9430207"/>
            <a:ext cx="20007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/ month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3144500" y="8858707"/>
            <a:ext cx="2000707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96</a:t>
            </a:r>
            <a:pPr algn="l" indent="0" marL="0">
              <a:buNone/>
            </a:pPr>
            <a:r>
              <a:rPr lang="en-US" sz="2100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%</a:t>
            </a:r>
            <a:endParaRPr lang="en-US" sz="3900" dirty="0"/>
          </a:p>
        </p:txBody>
      </p:sp>
      <p:sp>
        <p:nvSpPr>
          <p:cNvPr id="27" name="Text 24"/>
          <p:cNvSpPr txBox="1"/>
          <p:nvPr/>
        </p:nvSpPr>
        <p:spPr>
          <a:xfrm>
            <a:off x="13144500" y="9430207"/>
            <a:ext cx="20007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on-time delivery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5335402" y="8858707"/>
            <a:ext cx="2000707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&lt;0.4</a:t>
            </a:r>
            <a:pPr algn="l" indent="0" marL="0">
              <a:buNone/>
            </a:pPr>
            <a:r>
              <a:rPr lang="en-US" sz="2100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%</a:t>
            </a:r>
            <a:endParaRPr lang="en-US" sz="3900" dirty="0"/>
          </a:p>
        </p:txBody>
      </p:sp>
      <p:sp>
        <p:nvSpPr>
          <p:cNvPr id="29" name="Text 26"/>
          <p:cNvSpPr txBox="1"/>
          <p:nvPr/>
        </p:nvSpPr>
        <p:spPr>
          <a:xfrm>
            <a:off x="15335402" y="9430207"/>
            <a:ext cx="20007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defect rate, 2025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563615d4d72ea866184903282ed406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162d40f2c9240d1668bf1ca42a2849c7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571500"/>
            <a:ext cx="268467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 · COMPANY PROFILE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16576243" y="571500"/>
            <a:ext cx="90708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20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238805"/>
            <a:ext cx="381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432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ONE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3715207"/>
            <a:ext cx="3810305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0" i="1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pPr algn="l" indent="0" marL="0">
              <a:buNone/>
            </a:pPr>
            <a:r>
              <a:rPr lang="en-US" sz="9000" i="1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90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5715000"/>
            <a:ext cx="9525305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0" spc="-21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Brand</a:t>
            </a:r>
            <a:pPr algn="l" indent="0" marL="0">
              <a:buNone/>
            </a:pPr>
            <a:endParaRPr lang="en-US" sz="10500" dirty="0"/>
          </a:p>
          <a:p>
            <a:pPr algn="l" indent="0" marL="0">
              <a:buNone/>
            </a:pPr>
            <a:r>
              <a:rPr lang="en-US" sz="10500" spc="-21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&amp; the </a:t>
            </a:r>
            <a:pPr algn="l" indent="0" marL="0">
              <a:buNone/>
            </a:pPr>
            <a:r>
              <a:rPr lang="en-US" sz="10500" i="1" spc="-21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Story</a:t>
            </a:r>
            <a:pPr algn="l" indent="0" marL="0">
              <a:buNone/>
            </a:pPr>
            <a:r>
              <a:rPr lang="en-US" sz="10500" i="1" spc="-210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105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9144000"/>
            <a:ext cx="11430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pPr algn="l" indent="0" marL="0">
              <a:buNone/>
            </a:pPr>
            <a:r>
              <a:rPr lang="en-US" sz="15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WHO WE ARE · WHERE WE COME FROM · WHAT WE BELIEVE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80a7368d3b7b1b654546a41da165f5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914400" y="7334402"/>
            <a:ext cx="16459200" cy="9144"/>
          </a:xfrm>
          <a:prstGeom prst="rect">
            <a:avLst/>
          </a:prstGeom>
        </p:spPr>
      </p:pic>
      <p:pic>
        <p:nvPicPr>
          <p:cNvPr id="3" name="Image 1" descr="gen-dedup-6699ef45612c1a0f085db94e4d4ddff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6207" y="2190902"/>
            <a:ext cx="5624605" cy="4000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571500"/>
            <a:ext cx="158739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· ABOUT IV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16572586" y="571500"/>
            <a:ext cx="90708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20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9648749"/>
            <a:ext cx="24195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HS WOOD INDUSTRIES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6331184" y="9648749"/>
            <a:ext cx="10479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IV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1619402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432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SNAPSHOT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190902"/>
            <a:ext cx="10763402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0" spc="-162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Built for those</a:t>
            </a:r>
            <a:pPr algn="l" indent="0" marL="0">
              <a:buNone/>
            </a:pPr>
            <a:endParaRPr lang="en-US" sz="8100" dirty="0"/>
          </a:p>
          <a:p>
            <a:pPr algn="l" indent="0" marL="0">
              <a:buNone/>
            </a:pPr>
            <a:r>
              <a:rPr lang="en-US" sz="8100" spc="-162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who </a:t>
            </a:r>
            <a:pPr algn="l" indent="0" marL="0">
              <a:buNone/>
            </a:pPr>
            <a:r>
              <a:rPr lang="en-US" sz="8100" i="1" spc="-162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specify</a:t>
            </a:r>
            <a:pPr algn="l" indent="0" marL="0">
              <a:buNone/>
            </a:pPr>
            <a:r>
              <a:rPr lang="en-US" sz="8100" i="1" spc="-162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81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4953305"/>
            <a:ext cx="10001707" cy="1153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3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 is the fixed-furniture manufacturing brand of HS Wood Industries — built to serve B2B clients who need consistent quality across volume, not just a single well-finished showpiece.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7810805"/>
            <a:ext cx="3905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8124444"/>
            <a:ext cx="3905402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spc="-144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CNC</a:t>
            </a:r>
            <a:endParaRPr lang="en-US" sz="72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9191549"/>
            <a:ext cx="3905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manufacturing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048402" y="7810805"/>
            <a:ext cx="3905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048402" y="8124444"/>
            <a:ext cx="3905402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spc="-144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450</a:t>
            </a:r>
            <a:pPr algn="l" indent="0" marL="0">
              <a:buNone/>
            </a:pPr>
            <a:r>
              <a:rPr lang="en-US" sz="3000" spc="-144" kern="0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/mo</a:t>
            </a:r>
            <a:endParaRPr lang="en-US" sz="7200" dirty="0"/>
          </a:p>
        </p:txBody>
      </p:sp>
      <p:sp>
        <p:nvSpPr>
          <p:cNvPr id="16" name="Text 12"/>
          <p:cNvSpPr txBox="1"/>
          <p:nvPr/>
        </p:nvSpPr>
        <p:spPr>
          <a:xfrm>
            <a:off x="5048402" y="9191549"/>
            <a:ext cx="3905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delivered monthly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9182405" y="7810805"/>
            <a:ext cx="3905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9182405" y="8124444"/>
            <a:ext cx="3905402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spc="-144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pPr algn="l" indent="0" marL="0">
              <a:buNone/>
            </a:pPr>
            <a:r>
              <a:rPr lang="en-US" sz="3000" spc="-144" kern="0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gens</a:t>
            </a:r>
            <a:endParaRPr lang="en-US" sz="7200" dirty="0"/>
          </a:p>
        </p:txBody>
      </p:sp>
      <p:sp>
        <p:nvSpPr>
          <p:cNvPr id="19" name="Text 15"/>
          <p:cNvSpPr txBox="1"/>
          <p:nvPr/>
        </p:nvSpPr>
        <p:spPr>
          <a:xfrm>
            <a:off x="9182405" y="9191549"/>
            <a:ext cx="3905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HS Wood craft lineage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3316407" y="7810805"/>
            <a:ext cx="40965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3316407" y="8124444"/>
            <a:ext cx="4452214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spc="-144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8,500</a:t>
            </a:r>
            <a:pPr algn="l" indent="0" marL="0">
              <a:buNone/>
            </a:pPr>
            <a:r>
              <a:rPr lang="en-US" sz="3000" spc="-144" kern="0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m²</a:t>
            </a:r>
            <a:endParaRPr lang="en-US" sz="7200" dirty="0"/>
          </a:p>
        </p:txBody>
      </p:sp>
      <p:sp>
        <p:nvSpPr>
          <p:cNvPr id="22" name="Text 18"/>
          <p:cNvSpPr txBox="1"/>
          <p:nvPr/>
        </p:nvSpPr>
        <p:spPr>
          <a:xfrm>
            <a:off x="13316407" y="9191549"/>
            <a:ext cx="40965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Industry-4.0 production facility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98bb9cb4605cf55c218286282b172ff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914400" y="6667805"/>
            <a:ext cx="761695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6620256"/>
            <a:ext cx="114300" cy="114300"/>
          </a:xfrm>
          <a:prstGeom prst="ellipse">
            <a:avLst/>
          </a:prstGeom>
          <a:solidFill>
            <a:srgbClr val="D66A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ee074033fd5673e4f2ba4f36d8b5370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1619402"/>
            <a:ext cx="5905872" cy="74295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14400" y="571500"/>
            <a:ext cx="172638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· OUR STORY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16579901" y="571500"/>
            <a:ext cx="90708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20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9648749"/>
            <a:ext cx="24195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HS WOOD INDUSTRIES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1619402"/>
            <a:ext cx="381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432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OBSERVATION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572207"/>
            <a:ext cx="10001707" cy="258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100" i="1" spc="-61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“Between low-cost</a:t>
            </a:r>
            <a:pPr algn="l" indent="0" marL="0">
              <a:buNone/>
            </a:pPr>
            <a:endParaRPr lang="en-US" sz="6100" dirty="0"/>
          </a:p>
          <a:p>
            <a:pPr algn="l" indent="0" marL="0">
              <a:buNone/>
            </a:pPr>
            <a:r>
              <a:rPr lang="en-US" sz="6100" i="1" spc="-61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workshops and imported</a:t>
            </a:r>
            <a:pPr algn="l" indent="0" marL="0">
              <a:buNone/>
            </a:pPr>
            <a:endParaRPr lang="en-US" sz="6100" dirty="0"/>
          </a:p>
          <a:p>
            <a:pPr algn="l" indent="0" marL="0">
              <a:buNone/>
            </a:pPr>
            <a:r>
              <a:rPr lang="en-US" sz="6100" i="1" spc="-61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franchises — a gap.”</a:t>
            </a:r>
            <a:endParaRPr lang="en-US" sz="61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7144207"/>
            <a:ext cx="9525305" cy="1153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3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decades, Egyptian homeowners have chosen between two extremes — workshops that compromise on precision, and imported franchises that compromise on price.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8762695"/>
            <a:ext cx="95253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IV was built to close that gap. Real local manufacturing capacity, delivered with the discipline of a digital, systemized process.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0" y="9191549"/>
            <a:ext cx="5906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— Signature cabinetry, IV workshop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571500"/>
            <a:ext cx="401238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· VISION · MISSION · PROMISE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6576243" y="571500"/>
            <a:ext cx="90708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20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9648749"/>
            <a:ext cx="2591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PRINCIPLES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619402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432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STAND FOR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90902"/>
            <a:ext cx="15621610" cy="106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400" spc="-168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Vision, Mission &amp; </a:t>
            </a:r>
            <a:pPr algn="l" indent="0" marL="0">
              <a:buNone/>
            </a:pPr>
            <a:r>
              <a:rPr lang="en-US" sz="8400" i="1" spc="-168" kern="0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Promise</a:t>
            </a:r>
            <a:pPr algn="l" indent="0" marL="0">
              <a:buNone/>
            </a:pPr>
            <a:r>
              <a:rPr lang="en-US" sz="8400" i="1" spc="-168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8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381805"/>
            <a:ext cx="5143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i="1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I.</a:t>
            </a:r>
            <a:endParaRPr lang="en-US" sz="4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257800"/>
            <a:ext cx="5143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384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639105"/>
            <a:ext cx="51435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-29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reference standard for fixed furniture in the region.</a:t>
            </a:r>
            <a:endParaRPr lang="en-US" sz="2800" dirty="0"/>
          </a:p>
        </p:txBody>
      </p:sp>
      <p:pic>
        <p:nvPicPr>
          <p:cNvPr id="10" name="Image 0" descr="gen-dedup-de0fd30bcce355b4a154a2ec640650b3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914400" y="6926580"/>
            <a:ext cx="571500" cy="91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14400" y="7241134"/>
            <a:ext cx="51435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become the brand developers and architects name when specifying finish — not compromise.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572707" y="4381805"/>
            <a:ext cx="5143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i="1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II.</a:t>
            </a:r>
            <a:endParaRPr lang="en-US" sz="4500" dirty="0"/>
          </a:p>
        </p:txBody>
      </p:sp>
      <p:sp>
        <p:nvSpPr>
          <p:cNvPr id="13" name="Text 10"/>
          <p:cNvSpPr txBox="1"/>
          <p:nvPr/>
        </p:nvSpPr>
        <p:spPr>
          <a:xfrm>
            <a:off x="6572707" y="5257800"/>
            <a:ext cx="5143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384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572707" y="5639105"/>
            <a:ext cx="51435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-29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Unit 1 and unit 340 — cut from the same digital file.</a:t>
            </a:r>
            <a:endParaRPr lang="en-US" sz="2800" dirty="0"/>
          </a:p>
        </p:txBody>
      </p:sp>
      <p:pic>
        <p:nvPicPr>
          <p:cNvPr id="15" name="Image 1" descr="gen-dedup-de0fd30bcce355b4a154a2ec640650b3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6572707" y="6926580"/>
            <a:ext cx="571500" cy="91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572707" y="7241134"/>
            <a:ext cx="514350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 the same standard — for every unit, every project — through a manufacturing discipline that removes variability.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2230100" y="4381805"/>
            <a:ext cx="5143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i="1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III.</a:t>
            </a:r>
            <a:endParaRPr lang="en-US" sz="4500" dirty="0"/>
          </a:p>
        </p:txBody>
      </p:sp>
      <p:sp>
        <p:nvSpPr>
          <p:cNvPr id="18" name="Text 14"/>
          <p:cNvSpPr txBox="1"/>
          <p:nvPr/>
        </p:nvSpPr>
        <p:spPr>
          <a:xfrm>
            <a:off x="12230100" y="5257800"/>
            <a:ext cx="5143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384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PROMISE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2230100" y="5639105"/>
            <a:ext cx="5533034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spc="-29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 writing — not in hope.</a:t>
            </a:r>
            <a:endParaRPr lang="en-US" sz="2800" dirty="0"/>
          </a:p>
        </p:txBody>
      </p:sp>
      <p:pic>
        <p:nvPicPr>
          <p:cNvPr id="20" name="Image 2" descr="gen-dedup-de0fd30bcce355b4a154a2ec640650b3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2230100" y="6492240"/>
            <a:ext cx="571500" cy="91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230100" y="6806794"/>
            <a:ext cx="514350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Committed timelines. Warranty terms we're prepared to sign. A named project manager. What we promise is what we build.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571500"/>
            <a:ext cx="227319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· WHY CHOOSE 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6586302" y="571500"/>
            <a:ext cx="90617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20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429207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432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DIFFERENTIATORS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00707"/>
            <a:ext cx="1333561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0" spc="-156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Why </a:t>
            </a:r>
            <a:pPr algn="l" indent="0" marL="0">
              <a:buNone/>
            </a:pPr>
            <a:r>
              <a:rPr lang="en-US" sz="7800" i="1" spc="-156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Choose IV</a:t>
            </a:r>
            <a:pPr algn="l" indent="0" marL="0">
              <a:buNone/>
            </a:pPr>
            <a:r>
              <a:rPr lang="en-US" sz="7800" i="1" spc="-156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7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38805"/>
            <a:ext cx="114300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Six reasons developers, architects and homeowners specify us by name.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438498"/>
            <a:ext cx="5143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791456"/>
            <a:ext cx="51435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spc="-3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Consistent at scale.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438851"/>
            <a:ext cx="514350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panel — from unit 1 to unit 340 — is cut from the same digital file. Not a claim; a manufacturing constraint.</a:t>
            </a:r>
            <a:endParaRPr lang="en-US" sz="1600" dirty="0"/>
          </a:p>
        </p:txBody>
      </p:sp>
      <p:pic>
        <p:nvPicPr>
          <p:cNvPr id="10" name="Image 0" descr="gen-dedup-20f4d2710b02583488ad0e2177cdf113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-400" b="-400"/>
          <a:stretch/>
        </p:blipFill>
        <p:spPr>
          <a:xfrm>
            <a:off x="914400" y="4190695"/>
            <a:ext cx="5143500" cy="192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572707" y="4438498"/>
            <a:ext cx="5143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572707" y="4791456"/>
            <a:ext cx="51435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spc="-3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Committed timelines.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572707" y="5438851"/>
            <a:ext cx="514350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dates tracked against a live production schedule — in writing, not a verbal estimate. 96% on-time rate in 2025.</a:t>
            </a:r>
            <a:endParaRPr lang="en-US" sz="1600" dirty="0"/>
          </a:p>
        </p:txBody>
      </p:sp>
      <p:pic>
        <p:nvPicPr>
          <p:cNvPr id="14" name="Image 1" descr="gen-dedup-20f4d2710b02583488ad0e2177cdf113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0" r="0" t="-400" b="-400"/>
          <a:stretch/>
        </p:blipFill>
        <p:spPr>
          <a:xfrm>
            <a:off x="6572707" y="4190695"/>
            <a:ext cx="5143500" cy="19202"/>
          </a:xfrm>
          <a:prstGeom prst="rect">
            <a:avLst/>
          </a:prstGeom>
        </p:spPr>
      </p:pic>
      <p:pic>
        <p:nvPicPr>
          <p:cNvPr id="15" name="Image 2" descr="gen-dedup-20f4d2710b02583488ad0e2177cdf113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12230100" y="4190695"/>
            <a:ext cx="5143500" cy="192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230100" y="4438498"/>
            <a:ext cx="5143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FLAGSHIP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2230100" y="4791456"/>
            <a:ext cx="51435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spc="-3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One named contact.</a:t>
            </a:r>
            <a:endParaRPr lang="en-US" sz="3000" dirty="0"/>
          </a:p>
        </p:txBody>
      </p:sp>
      <p:sp>
        <p:nvSpPr>
          <p:cNvPr id="18" name="Text 13"/>
          <p:cNvSpPr txBox="1"/>
          <p:nvPr/>
        </p:nvSpPr>
        <p:spPr>
          <a:xfrm>
            <a:off x="12230100" y="5438851"/>
            <a:ext cx="51435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account gets one dedicated project manager — from brief to walkthrough. Not a rotating cast.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914400" y="7582205"/>
            <a:ext cx="5143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914400" y="7934249"/>
            <a:ext cx="51435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spc="-3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Reputable hardware.</a:t>
            </a:r>
            <a:endParaRPr lang="en-US" sz="3000" dirty="0"/>
          </a:p>
        </p:txBody>
      </p:sp>
      <p:sp>
        <p:nvSpPr>
          <p:cNvPr id="21" name="Text 16"/>
          <p:cNvSpPr txBox="1"/>
          <p:nvPr/>
        </p:nvSpPr>
        <p:spPr>
          <a:xfrm>
            <a:off x="914400" y="8581644"/>
            <a:ext cx="51435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Blum · Egger · Kronospan · Hettich — the same components used by luxury OEMs.</a:t>
            </a:r>
            <a:endParaRPr lang="en-US" sz="1600" dirty="0"/>
          </a:p>
        </p:txBody>
      </p:sp>
      <p:pic>
        <p:nvPicPr>
          <p:cNvPr id="22" name="Image 3" descr="gen-dedup-20f4d2710b02583488ad0e2177cdf113.png">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l="0" r="0" t="-400" b="-400"/>
          <a:stretch/>
        </p:blipFill>
        <p:spPr>
          <a:xfrm>
            <a:off x="914400" y="7334402"/>
            <a:ext cx="5143500" cy="192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572707" y="7582205"/>
            <a:ext cx="5143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6572707" y="7934249"/>
            <a:ext cx="51435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spc="-3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In-house crews.</a:t>
            </a:r>
            <a:endParaRPr lang="en-US" sz="3000" dirty="0"/>
          </a:p>
        </p:txBody>
      </p:sp>
      <p:sp>
        <p:nvSpPr>
          <p:cNvPr id="25" name="Text 19"/>
          <p:cNvSpPr txBox="1"/>
          <p:nvPr/>
        </p:nvSpPr>
        <p:spPr>
          <a:xfrm>
            <a:off x="6572707" y="8581644"/>
            <a:ext cx="51435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people who install unit 1 are the people who install unit 340. Not ad-hoc subcontractors.</a:t>
            </a:r>
            <a:endParaRPr lang="en-US" sz="1600" dirty="0"/>
          </a:p>
        </p:txBody>
      </p:sp>
      <p:pic>
        <p:nvPicPr>
          <p:cNvPr id="26" name="Image 4" descr="gen-dedup-20f4d2710b02583488ad0e2177cdf113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l="0" r="0" t="-400" b="-400"/>
          <a:stretch/>
        </p:blipFill>
        <p:spPr>
          <a:xfrm>
            <a:off x="6572707" y="7334402"/>
            <a:ext cx="5143500" cy="192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230100" y="7582205"/>
            <a:ext cx="5143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12230100" y="7934249"/>
            <a:ext cx="51435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spc="-3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Warranty in writing.</a:t>
            </a:r>
            <a:endParaRPr lang="en-US" sz="3000" dirty="0"/>
          </a:p>
        </p:txBody>
      </p:sp>
      <p:sp>
        <p:nvSpPr>
          <p:cNvPr id="29" name="Text 22"/>
          <p:cNvSpPr txBox="1"/>
          <p:nvPr/>
        </p:nvSpPr>
        <p:spPr>
          <a:xfrm>
            <a:off x="12230100" y="8581644"/>
            <a:ext cx="51435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5-year structural warranty · lifetime Blum hardware · 72-hour response commitment.</a:t>
            </a:r>
            <a:endParaRPr lang="en-US" sz="1600" dirty="0"/>
          </a:p>
        </p:txBody>
      </p:sp>
      <p:pic>
        <p:nvPicPr>
          <p:cNvPr id="30" name="Image 5" descr="gen-dedup-20f4d2710b02583488ad0e2177cdf113.png">    </p:cNvPr>
          <p:cNvPicPr>
            <a:picLocks noChangeAspect="1"/>
          </p:cNvPicPr>
          <p:nvPr/>
        </p:nvPicPr>
        <p:blipFill>
          <a:blip r:embed="rId6">
            <a:alphaModFix amt="40000"/>
          </a:blip>
          <a:srcRect l="0" r="0" t="-400" b="-400"/>
          <a:stretch/>
        </p:blipFill>
        <p:spPr>
          <a:xfrm>
            <a:off x="12230100" y="7334402"/>
            <a:ext cx="5143500" cy="192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774b2bb95cff972ed750047d9eea8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92469"/>
          </a:xfrm>
          <a:prstGeom prst="rect">
            <a:avLst/>
          </a:prstGeom>
        </p:spPr>
      </p:pic>
      <p:pic>
        <p:nvPicPr>
          <p:cNvPr id="3" name="Image 1" descr="gen-dedup-2ede0b4f71e28e60b34e8bdcaf4c256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571500"/>
            <a:ext cx="268467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 · COMPANY PROFILE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16576243" y="571500"/>
            <a:ext cx="90708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· 20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238805"/>
            <a:ext cx="381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432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TWO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3715207"/>
            <a:ext cx="3810305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0" i="1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II</a:t>
            </a:r>
            <a:pPr algn="l" indent="0" marL="0">
              <a:buNone/>
            </a:pPr>
            <a:r>
              <a:rPr lang="en-US" sz="9000" i="1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90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5715000"/>
            <a:ext cx="1047811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0" spc="-21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Craft</a:t>
            </a:r>
            <a:pPr algn="l" indent="0" marL="0">
              <a:buNone/>
            </a:pPr>
            <a:endParaRPr lang="en-US" sz="10500" dirty="0"/>
          </a:p>
          <a:p>
            <a:pPr algn="l" indent="0" marL="0">
              <a:buNone/>
            </a:pPr>
            <a:r>
              <a:rPr lang="en-US" sz="10500" spc="-21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&amp; the </a:t>
            </a:r>
            <a:pPr algn="l" indent="0" marL="0">
              <a:buNone/>
            </a:pPr>
            <a:r>
              <a:rPr lang="en-US" sz="10500" i="1" spc="-21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Machine</a:t>
            </a:r>
            <a:pPr algn="l" indent="0" marL="0">
              <a:buNone/>
            </a:pPr>
            <a:r>
              <a:rPr lang="en-US" sz="10500" i="1" spc="-210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105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9144000"/>
            <a:ext cx="12382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pPr algn="l" indent="0" marL="0">
              <a:buNone/>
            </a:pPr>
            <a:r>
              <a:rPr lang="en-US" sz="15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 WE BUILD · HOW WE BUILD · WHAT WE BUILD IT FROM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d0b06aeebfb4af249223c01e28a08b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715000"/>
            <a:ext cx="5355671" cy="3238805"/>
          </a:xfrm>
          <a:prstGeom prst="rect">
            <a:avLst/>
          </a:prstGeom>
        </p:spPr>
      </p:pic>
      <p:pic>
        <p:nvPicPr>
          <p:cNvPr id="3" name="Image 1" descr="gen-dedup-93a9693dbe02ea0f6e387d88bc358fa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551" y="5715000"/>
            <a:ext cx="5355432" cy="3238805"/>
          </a:xfrm>
          <a:prstGeom prst="rect">
            <a:avLst/>
          </a:prstGeom>
        </p:spPr>
      </p:pic>
      <p:pic>
        <p:nvPicPr>
          <p:cNvPr id="4" name="Image 2" descr="gen-dedup-ffbc87011f9657f8f8077e3b2d457d4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0702" y="5715000"/>
            <a:ext cx="5352898" cy="323915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0" y="571500"/>
            <a:ext cx="240944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 · WHAT WE OFFER</a:t>
            </a:r>
            <a:endParaRPr lang="en-US" sz="1100" dirty="0"/>
          </a:p>
        </p:txBody>
      </p:sp>
      <p:sp>
        <p:nvSpPr>
          <p:cNvPr id="6" name="Text 1"/>
          <p:cNvSpPr txBox="1"/>
          <p:nvPr/>
        </p:nvSpPr>
        <p:spPr>
          <a:xfrm>
            <a:off x="16576243" y="571500"/>
            <a:ext cx="90708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· 20</a:t>
            </a:r>
            <a:endParaRPr lang="en-US" sz="1100" dirty="0"/>
          </a:p>
        </p:txBody>
      </p:sp>
      <p:sp>
        <p:nvSpPr>
          <p:cNvPr id="7" name="Text 2"/>
          <p:cNvSpPr txBox="1"/>
          <p:nvPr/>
        </p:nvSpPr>
        <p:spPr>
          <a:xfrm>
            <a:off x="914400" y="1429207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432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· LAUNCHING 2026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11430000" y="1404518"/>
            <a:ext cx="5943600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30"/>
              </a:lnSpc>
              <a:buNone/>
            </a:pPr>
            <a:r>
              <a:rPr lang="en-US" sz="19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Three product families —</a:t>
            </a:r>
            <a:pPr algn="r" indent="0" marL="0">
              <a:lnSpc>
                <a:spcPts val="2730"/>
              </a:lnSpc>
              <a:buNone/>
            </a:pPr>
            <a:endParaRPr lang="en-US" sz="1900" dirty="0"/>
          </a:p>
          <a:p>
            <a:pPr algn="r" indent="0" marL="0">
              <a:lnSpc>
                <a:spcPts val="2730"/>
              </a:lnSpc>
              <a:buNone/>
            </a:pPr>
            <a:r>
              <a:rPr lang="en-US" sz="19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unified by the same digital-first standard.</a:t>
            </a:r>
            <a:endParaRPr lang="en-US" sz="1900" dirty="0"/>
          </a:p>
        </p:txBody>
      </p:sp>
      <p:sp>
        <p:nvSpPr>
          <p:cNvPr id="9" name="Text 4"/>
          <p:cNvSpPr txBox="1"/>
          <p:nvPr/>
        </p:nvSpPr>
        <p:spPr>
          <a:xfrm>
            <a:off x="914400" y="2095805"/>
            <a:ext cx="1333561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0" spc="-18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Three signatures</a:t>
            </a:r>
            <a:pPr algn="l" indent="0" marL="0">
              <a:buNone/>
            </a:pPr>
            <a:r>
              <a:rPr lang="en-US" sz="9000" spc="-180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9000" dirty="0"/>
          </a:p>
        </p:txBody>
      </p:sp>
      <p:sp>
        <p:nvSpPr>
          <p:cNvPr id="10" name="Text 5"/>
          <p:cNvSpPr txBox="1"/>
          <p:nvPr/>
        </p:nvSpPr>
        <p:spPr>
          <a:xfrm>
            <a:off x="914400" y="3333902"/>
            <a:ext cx="13335610" cy="1257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0" i="1" spc="-180" kern="0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One standard</a:t>
            </a:r>
            <a:pPr algn="l" indent="0" marL="0">
              <a:buNone/>
            </a:pPr>
            <a:r>
              <a:rPr lang="en-US" sz="9000" i="1" spc="-180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9000" dirty="0"/>
          </a:p>
        </p:txBody>
      </p:sp>
      <p:sp>
        <p:nvSpPr>
          <p:cNvPr id="11" name="Text 6"/>
          <p:cNvSpPr txBox="1"/>
          <p:nvPr/>
        </p:nvSpPr>
        <p:spPr>
          <a:xfrm>
            <a:off x="914400" y="9144000"/>
            <a:ext cx="53538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</a:t>
            </a:r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KITCHENS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9420149"/>
            <a:ext cx="535381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Kitchens.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914400" y="9838944"/>
            <a:ext cx="53538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heart of the home — engineered to endure.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467551" y="9144000"/>
            <a:ext cx="53538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</a:t>
            </a:r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DRESSING ROOMS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6467551" y="9420149"/>
            <a:ext cx="535381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Dressing Rooms.</a:t>
            </a:r>
            <a:endParaRPr lang="en-US" sz="2800" dirty="0"/>
          </a:p>
        </p:txBody>
      </p:sp>
      <p:sp>
        <p:nvSpPr>
          <p:cNvPr id="16" name="Text 11"/>
          <p:cNvSpPr txBox="1"/>
          <p:nvPr/>
        </p:nvSpPr>
        <p:spPr>
          <a:xfrm>
            <a:off x="6467551" y="9838944"/>
            <a:ext cx="59436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private ritual space — tailored to your wardrobe.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2020702" y="9144000"/>
            <a:ext cx="53538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</a:t>
            </a:r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VANITIES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12020702" y="9420149"/>
            <a:ext cx="535381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Vanities.</a:t>
            </a:r>
            <a:endParaRPr lang="en-US" sz="2800" dirty="0"/>
          </a:p>
        </p:txBody>
      </p:sp>
      <p:sp>
        <p:nvSpPr>
          <p:cNvPr id="19" name="Text 14"/>
          <p:cNvSpPr txBox="1"/>
          <p:nvPr/>
        </p:nvSpPr>
        <p:spPr>
          <a:xfrm>
            <a:off x="12020702" y="9838944"/>
            <a:ext cx="53538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quiet luxury of a well-made vanity.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80a7368d3b7b1b654546a41da165f5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714500" y="5257800"/>
            <a:ext cx="15145207" cy="9144"/>
          </a:xfrm>
          <a:prstGeom prst="rect">
            <a:avLst/>
          </a:prstGeom>
        </p:spPr>
      </p:pic>
      <p:pic>
        <p:nvPicPr>
          <p:cNvPr id="3" name="Image 1" descr="gen-dedup-d80a7368d3b7b1b654546a41da165f5a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14400" y="8572500"/>
            <a:ext cx="16459200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714500" y="5181905"/>
            <a:ext cx="152705" cy="152705"/>
          </a:xfrm>
          <a:prstGeom prst="ellipse">
            <a:avLst/>
          </a:prstGeom>
          <a:solidFill>
            <a:srgbClr val="8E8B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619902" y="5181905"/>
            <a:ext cx="152705" cy="152705"/>
          </a:xfrm>
          <a:prstGeom prst="ellipse">
            <a:avLst/>
          </a:prstGeom>
          <a:solidFill>
            <a:srgbClr val="8E8B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525305" y="5181905"/>
            <a:ext cx="152705" cy="152705"/>
          </a:xfrm>
          <a:prstGeom prst="ellipse">
            <a:avLst/>
          </a:prstGeom>
          <a:solidFill>
            <a:srgbClr val="8E8B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3430707" y="5086807"/>
            <a:ext cx="342900" cy="342900"/>
          </a:xfrm>
          <a:prstGeom prst="ellipse">
            <a:avLst/>
          </a:prstGeom>
          <a:solidFill>
            <a:srgbClr val="D66A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14400" y="571500"/>
            <a:ext cx="213603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 · OUR PROCESS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6606418" y="571500"/>
            <a:ext cx="9052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· 20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9648749"/>
            <a:ext cx="453816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DOCTRINE · IV PRODUCTION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6235172" y="9648749"/>
            <a:ext cx="13149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 / 2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1429207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432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 · STAGES 01–04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2000707"/>
            <a:ext cx="14287500" cy="106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400" spc="-168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Production </a:t>
            </a:r>
            <a:pPr algn="l" indent="0" marL="0">
              <a:buNone/>
            </a:pPr>
            <a:r>
              <a:rPr lang="en-US" sz="8400" i="1" spc="-168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Process</a:t>
            </a:r>
            <a:pPr algn="l" indent="0" marL="0">
              <a:buNone/>
            </a:pPr>
            <a:r>
              <a:rPr lang="en-US" sz="8400" i="1" spc="-168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84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" y="3333902"/>
            <a:ext cx="15240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Seven stages. Every stage has a checkpoint. Every checkpoint has a signature.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4381805"/>
            <a:ext cx="3620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01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4695444"/>
            <a:ext cx="3620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spc="-33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Measurement</a:t>
            </a:r>
            <a:endParaRPr lang="en-US" sz="33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810098"/>
            <a:ext cx="36201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On-site verified vs. architectural drawings.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6782105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336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ARCHITECT SIGN-OFF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048402" y="4381805"/>
            <a:ext cx="3620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02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5048402" y="4695444"/>
            <a:ext cx="3620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spc="-33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3D Design</a:t>
            </a:r>
            <a:endParaRPr lang="en-US" sz="3300" dirty="0"/>
          </a:p>
        </p:txBody>
      </p:sp>
      <p:sp>
        <p:nvSpPr>
          <p:cNvPr id="21" name="Text 17"/>
          <p:cNvSpPr txBox="1"/>
          <p:nvPr/>
        </p:nvSpPr>
        <p:spPr>
          <a:xfrm>
            <a:off x="5048402" y="5810098"/>
            <a:ext cx="4277563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digital model for client approval.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5048402" y="6467551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336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CLIENT SIGN-OFF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8953805" y="4381805"/>
            <a:ext cx="3620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03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8953805" y="4695444"/>
            <a:ext cx="3620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spc="-33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Engineering</a:t>
            </a:r>
            <a:endParaRPr lang="en-US" sz="3300" dirty="0"/>
          </a:p>
        </p:txBody>
      </p:sp>
      <p:sp>
        <p:nvSpPr>
          <p:cNvPr id="25" name="Text 21"/>
          <p:cNvSpPr txBox="1"/>
          <p:nvPr/>
        </p:nvSpPr>
        <p:spPr>
          <a:xfrm>
            <a:off x="8953805" y="5810098"/>
            <a:ext cx="36201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Fit, function &amp; hardware placement review.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8953805" y="6782105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336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ENG SIGN-OFF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12859207" y="4381805"/>
            <a:ext cx="40965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04 · CORE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12859207" y="4695444"/>
            <a:ext cx="409651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spc="-33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CNC Cutting</a:t>
            </a:r>
            <a:endParaRPr lang="en-US" sz="3300" dirty="0"/>
          </a:p>
        </p:txBody>
      </p:sp>
      <p:sp>
        <p:nvSpPr>
          <p:cNvPr id="29" name="Text 25"/>
          <p:cNvSpPr txBox="1"/>
          <p:nvPr/>
        </p:nvSpPr>
        <p:spPr>
          <a:xfrm>
            <a:off x="12859207" y="5810098"/>
            <a:ext cx="4096512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Panels cut to exact digital spec — the discipline moment where the file becomes the object.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12859207" y="7095744"/>
            <a:ext cx="40965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336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DIMENSIONAL CHECK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914400" y="8953805"/>
            <a:ext cx="53913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Continues — stages 05 → 07 &amp; the operating doctrine.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16540582" y="8986723"/>
            <a:ext cx="8385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336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→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80a7368d3b7b1b654546a41da165f5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904695" y="5257800"/>
            <a:ext cx="14477695" cy="9144"/>
          </a:xfrm>
          <a:prstGeom prst="rect">
            <a:avLst/>
          </a:prstGeom>
        </p:spPr>
      </p:pic>
      <p:pic>
        <p:nvPicPr>
          <p:cNvPr id="3" name="Image 1" descr="gen-dedup-d80a7368d3b7b1b654546a41da165f5a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14400" y="8287207"/>
            <a:ext cx="16459200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000707" y="5181905"/>
            <a:ext cx="152705" cy="152705"/>
          </a:xfrm>
          <a:prstGeom prst="ellipse">
            <a:avLst/>
          </a:prstGeom>
          <a:solidFill>
            <a:srgbClr val="8E8B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810805" y="5181905"/>
            <a:ext cx="152705" cy="152705"/>
          </a:xfrm>
          <a:prstGeom prst="ellipse">
            <a:avLst/>
          </a:prstGeom>
          <a:solidFill>
            <a:srgbClr val="8E8B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3620902" y="5181905"/>
            <a:ext cx="152705" cy="152705"/>
          </a:xfrm>
          <a:prstGeom prst="ellipse">
            <a:avLst/>
          </a:prstGeom>
          <a:solidFill>
            <a:srgbClr val="8E8B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14400" y="571500"/>
            <a:ext cx="213603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 · OUR PROCESS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6638422" y="571500"/>
            <a:ext cx="88422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· 20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9648749"/>
            <a:ext cx="453816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DOCTRINE · IV PRODUCTION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6206826" y="9648749"/>
            <a:ext cx="131582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/ 2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1429207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432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 · STAGES 05–07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2000707"/>
            <a:ext cx="14287500" cy="106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400" spc="-168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From CNC to </a:t>
            </a:r>
            <a:pPr algn="l" indent="0" marL="0">
              <a:buNone/>
            </a:pPr>
            <a:r>
              <a:rPr lang="en-US" sz="8400" i="1" spc="-168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handover</a:t>
            </a:r>
            <a:pPr algn="l" indent="0" marL="0">
              <a:buNone/>
            </a:pPr>
            <a:r>
              <a:rPr lang="en-US" sz="8400" i="1" spc="-168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8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333902"/>
            <a:ext cx="15240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Assembly. Inspection. Installation. Three stages between a cut panel and a signed-off room.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4381805"/>
            <a:ext cx="5334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05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4695444"/>
            <a:ext cx="53346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spc="-39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Assembly</a:t>
            </a:r>
            <a:endParaRPr lang="en-US" sz="39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5905195"/>
            <a:ext cx="5334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banded, hardware fitted — every joint aligned before it leaves the assembly bay.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6972300"/>
            <a:ext cx="5334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357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STRUCTURAL CHECK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953098" y="4381805"/>
            <a:ext cx="5334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06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6953098" y="4695444"/>
            <a:ext cx="53346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spc="-39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QC Inspection</a:t>
            </a:r>
            <a:endParaRPr lang="en-US" sz="3900" dirty="0"/>
          </a:p>
        </p:txBody>
      </p:sp>
      <p:sp>
        <p:nvSpPr>
          <p:cNvPr id="20" name="Text 16"/>
          <p:cNvSpPr txBox="1"/>
          <p:nvPr/>
        </p:nvSpPr>
        <p:spPr>
          <a:xfrm>
            <a:off x="6953098" y="5905195"/>
            <a:ext cx="5334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unit checked against spec — nothing ships on faith.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6953098" y="6972300"/>
            <a:ext cx="5334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357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PASS/FAIL CHECK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2763195" y="4381805"/>
            <a:ext cx="457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07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12763195" y="4695444"/>
            <a:ext cx="45720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spc="-39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Installation</a:t>
            </a:r>
            <a:endParaRPr lang="en-US" sz="3900" dirty="0"/>
          </a:p>
        </p:txBody>
      </p:sp>
      <p:sp>
        <p:nvSpPr>
          <p:cNvPr id="24" name="Text 20"/>
          <p:cNvSpPr txBox="1"/>
          <p:nvPr/>
        </p:nvSpPr>
        <p:spPr>
          <a:xfrm>
            <a:off x="12763195" y="5905195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in-house team on site — the same hands from unit 1 to unit 340.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12763195" y="6972300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357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CLIENT WALKTHROUGH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-228600" y="8762695"/>
            <a:ext cx="18745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i="1" spc="-14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“Quality isn't a claim we make — it's a checklist we follow, on every unit, every time.”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eb26802ba6f23b6b6daa158aac3153f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8382305" y="6096305"/>
            <a:ext cx="8953805" cy="9144"/>
          </a:xfrm>
          <a:prstGeom prst="rect">
            <a:avLst/>
          </a:prstGeom>
        </p:spPr>
      </p:pic>
      <p:pic>
        <p:nvPicPr>
          <p:cNvPr id="3" name="Image 1" descr="gen-dedup-feb26802ba6f23b6b6daa158aac3153f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8382305" y="8953805"/>
            <a:ext cx="8953805" cy="9144"/>
          </a:xfrm>
          <a:prstGeom prst="rect">
            <a:avLst/>
          </a:prstGeom>
        </p:spPr>
      </p:pic>
      <p:pic>
        <p:nvPicPr>
          <p:cNvPr id="4" name="Image 2" descr="gen-dedup-b132d07bf82a5c919c1952a66ddc6abb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10805" cy="10287401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81305" y="9810598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3EEE7">
                    <a:alpha val="85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— Precision CNC in operation, HS Wood facility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382305" y="571500"/>
            <a:ext cx="200162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 · TECHNOLOGY</a:t>
            </a:r>
            <a:endParaRPr lang="en-US" sz="1100" dirty="0"/>
          </a:p>
        </p:txBody>
      </p:sp>
      <p:sp>
        <p:nvSpPr>
          <p:cNvPr id="7" name="Text 2"/>
          <p:cNvSpPr txBox="1"/>
          <p:nvPr/>
        </p:nvSpPr>
        <p:spPr>
          <a:xfrm>
            <a:off x="16609162" y="571500"/>
            <a:ext cx="9052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· 20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8382305" y="1429207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432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4.0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8382305" y="2000707"/>
            <a:ext cx="10172700" cy="829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0" spc="-123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Guided by the machine.</a:t>
            </a:r>
            <a:endParaRPr lang="en-US" sz="6100" dirty="0"/>
          </a:p>
        </p:txBody>
      </p:sp>
      <p:sp>
        <p:nvSpPr>
          <p:cNvPr id="10" name="Text 5"/>
          <p:cNvSpPr txBox="1"/>
          <p:nvPr/>
        </p:nvSpPr>
        <p:spPr>
          <a:xfrm>
            <a:off x="8382305" y="2896819"/>
            <a:ext cx="10172700" cy="9052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100" i="1" spc="-123" kern="0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Refined by the maker</a:t>
            </a:r>
            <a:pPr algn="l" indent="0" marL="0">
              <a:buNone/>
            </a:pPr>
            <a:r>
              <a:rPr lang="en-US" sz="6100" i="1" spc="-123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6100" dirty="0"/>
          </a:p>
        </p:txBody>
      </p:sp>
      <p:sp>
        <p:nvSpPr>
          <p:cNvPr id="11" name="Text 6"/>
          <p:cNvSpPr txBox="1"/>
          <p:nvPr/>
        </p:nvSpPr>
        <p:spPr>
          <a:xfrm>
            <a:off x="8382305" y="4476902"/>
            <a:ext cx="89538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3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panel begins as a digital file and becomes a physical piece with exact repeatability — the difference between a workshop and a factory.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8382305" y="6381598"/>
            <a:ext cx="4286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8382305" y="6676949"/>
            <a:ext cx="4286707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CNC Cutting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8382305" y="7123176"/>
            <a:ext cx="467532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HOMAG 5-axis flatbed · tolerance &lt; 0.3 mm.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3049402" y="6381598"/>
            <a:ext cx="4286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13049402" y="6676949"/>
            <a:ext cx="4286707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Edge Banding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13049402" y="7123176"/>
            <a:ext cx="44577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PU/EVA — factory-grade finish.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82305" y="7619695"/>
            <a:ext cx="4286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8382305" y="7915046"/>
            <a:ext cx="4286707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Drilling &amp; Boring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8382305" y="8361274"/>
            <a:ext cx="49725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Multi-spindle CNC for hinges, slides, connectors.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3049402" y="7619695"/>
            <a:ext cx="4286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13049402" y="7915046"/>
            <a:ext cx="4286707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Design Stack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13049402" y="8361274"/>
            <a:ext cx="49725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AutoCAD + Cabinet Vision + 3D-Max — versioned.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382305" y="9191549"/>
            <a:ext cx="28575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spc="-78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&lt;0.5</a:t>
            </a:r>
            <a:pPr algn="l" indent="0" marL="0">
              <a:buNone/>
            </a:pPr>
            <a:r>
              <a:rPr lang="en-US" sz="1600" spc="-78" kern="0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mm</a:t>
            </a:r>
            <a:endParaRPr lang="en-US" sz="3900" dirty="0"/>
          </a:p>
        </p:txBody>
      </p:sp>
      <p:sp>
        <p:nvSpPr>
          <p:cNvPr id="25" name="Text 20"/>
          <p:cNvSpPr txBox="1"/>
          <p:nvPr/>
        </p:nvSpPr>
        <p:spPr>
          <a:xfrm>
            <a:off x="8382305" y="9743846"/>
            <a:ext cx="2857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294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TOLERANCE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11620195" y="9191549"/>
            <a:ext cx="26673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spc="-78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100</a:t>
            </a:r>
            <a:pPr algn="l" indent="0" marL="0">
              <a:buNone/>
            </a:pPr>
            <a:r>
              <a:rPr lang="en-US" sz="1600" spc="-78" kern="0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%</a:t>
            </a:r>
            <a:endParaRPr lang="en-US" sz="3900" dirty="0"/>
          </a:p>
        </p:txBody>
      </p:sp>
      <p:sp>
        <p:nvSpPr>
          <p:cNvPr id="27" name="Text 22"/>
          <p:cNvSpPr txBox="1"/>
          <p:nvPr/>
        </p:nvSpPr>
        <p:spPr>
          <a:xfrm>
            <a:off x="11620195" y="9743846"/>
            <a:ext cx="2667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294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TRACEABILITY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4668805" y="9191549"/>
            <a:ext cx="26673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spc="-78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 : 1</a:t>
            </a:r>
            <a:endParaRPr lang="en-US" sz="3900" dirty="0"/>
          </a:p>
        </p:txBody>
      </p:sp>
      <p:sp>
        <p:nvSpPr>
          <p:cNvPr id="29" name="Text 24"/>
          <p:cNvSpPr txBox="1"/>
          <p:nvPr/>
        </p:nvSpPr>
        <p:spPr>
          <a:xfrm>
            <a:off x="14668805" y="9743846"/>
            <a:ext cx="2667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294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→ MFG MATCH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58500" y="5333695"/>
            <a:ext cx="6515100" cy="4153205"/>
          </a:xfrm>
          <a:prstGeom prst="rect">
            <a:avLst/>
          </a:prstGeom>
          <a:solidFill>
            <a:srgbClr val="161514"/>
          </a:solidFill>
          <a:ln w="12700">
            <a:solidFill>
              <a:srgbClr val="2A27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571500"/>
            <a:ext cx="322326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 · QUALITY &amp; MATERIALS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6608247" y="571500"/>
            <a:ext cx="9052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· 20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429207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432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MATERIALS &amp; PARTNERS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00707"/>
            <a:ext cx="14287500" cy="106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400" spc="-168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Materials with </a:t>
            </a:r>
            <a:pPr algn="l" indent="0" marL="0">
              <a:buNone/>
            </a:pPr>
            <a:r>
              <a:rPr lang="en-US" sz="8400" i="1" spc="-168" kern="0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name</a:t>
            </a:r>
            <a:pPr algn="l" indent="0" marL="0">
              <a:buNone/>
            </a:pPr>
            <a:r>
              <a:rPr lang="en-US" sz="8400" i="1" spc="-168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8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24098"/>
            <a:ext cx="100017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3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Great furniture is only as good as its hardest-working parts. IV specifies each component </a:t>
            </a:r>
            <a:pPr algn="l" indent="0" marL="0">
              <a:buNone/>
            </a:pPr>
            <a:r>
              <a:rPr lang="en-US" sz="1800" i="1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by name</a:t>
            </a:r>
            <a:pPr algn="l" indent="0" marL="0">
              <a:buNone/>
            </a:pPr>
            <a:r>
              <a:rPr lang="en-US" sz="1800" dirty="0">
                <a:solidFill>
                  <a:srgbClr val="F3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not by convenience.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5333695"/>
            <a:ext cx="8572500" cy="9144"/>
          </a:xfrm>
          <a:prstGeom prst="rect">
            <a:avLst/>
          </a:prstGeom>
          <a:solidFill>
            <a:srgbClr val="2A2723"/>
          </a:solidFill>
          <a:ln w="12700">
            <a:solidFill>
              <a:srgbClr val="2A2723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5648249"/>
            <a:ext cx="2667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PANELS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962802"/>
            <a:ext cx="2667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spc="-3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Core Board.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5682082"/>
            <a:ext cx="53721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E1-grade MDF, plywood carcasses &amp; premium Egger / Kronospan melamine facings.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6648602"/>
            <a:ext cx="8572500" cy="9144"/>
          </a:xfrm>
          <a:prstGeom prst="rect">
            <a:avLst/>
          </a:prstGeom>
          <a:solidFill>
            <a:srgbClr val="2A2723"/>
          </a:solidFill>
          <a:ln w="12700">
            <a:solidFill>
              <a:srgbClr val="2A2723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6963156"/>
            <a:ext cx="2667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HARDWARE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7276795"/>
            <a:ext cx="2667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spc="-3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Movement.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6996074"/>
            <a:ext cx="53721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Blum soft-close hinges &amp; TANDEM drawer systems — same as luxury OEMs.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7962595"/>
            <a:ext cx="8572500" cy="1324051"/>
          </a:xfrm>
          <a:prstGeom prst="rect">
            <a:avLst/>
          </a:prstGeom>
          <a:noFill/>
          <a:ln w="12700">
            <a:solidFill>
              <a:srgbClr val="2A272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8277149"/>
            <a:ext cx="2667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FINISHES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8591702"/>
            <a:ext cx="2667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spc="-3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Surface.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8310982"/>
            <a:ext cx="53721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 lacquers · matte melamines · natural veneers — colour-matched across batches.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239805" y="5715000"/>
            <a:ext cx="57534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FEATURED PARTNER</a:t>
            </a:r>
            <a:endParaRPr lang="en-US" sz="1100" dirty="0"/>
          </a:p>
        </p:txBody>
      </p:sp>
      <p:pic>
        <p:nvPicPr>
          <p:cNvPr id="21" name="Image 0" descr="gen-dedup-38265734645e6f1797be1c3e5324b968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239805" y="6048756"/>
            <a:ext cx="609905" cy="1920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239805" y="6372454"/>
            <a:ext cx="57534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spc="-144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Blum</a:t>
            </a:r>
            <a:pPr algn="l" indent="0" marL="0">
              <a:buNone/>
            </a:pPr>
            <a:r>
              <a:rPr lang="en-US" sz="7200" spc="-144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7200" dirty="0"/>
          </a:p>
        </p:txBody>
      </p:sp>
      <p:sp>
        <p:nvSpPr>
          <p:cNvPr id="23" name="Text 20"/>
          <p:cNvSpPr txBox="1"/>
          <p:nvPr/>
        </p:nvSpPr>
        <p:spPr>
          <a:xfrm>
            <a:off x="11239805" y="7515454"/>
            <a:ext cx="107716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EGGER</a:t>
            </a:r>
            <a:pPr algn="l" indent="0" marL="0">
              <a:buNone/>
            </a:pPr>
            <a:r>
              <a:rPr lang="en-US" sz="190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12364517" y="7515454"/>
            <a:ext cx="153070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Kronospan</a:t>
            </a:r>
            <a:pPr algn="l" indent="0" marL="0">
              <a:buNone/>
            </a:pPr>
            <a:r>
              <a:rPr lang="en-US" sz="190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3876934" y="7515454"/>
            <a:ext cx="104333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Hettich</a:t>
            </a:r>
            <a:pPr algn="l" indent="0" marL="0">
              <a:buNone/>
            </a:pPr>
            <a:r>
              <a:rPr lang="en-US" sz="190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11239805" y="8124444"/>
            <a:ext cx="57534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3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Austrian manufacturer, globally recognised for hinges &amp; drawer systems that move quietly and last decades.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1239805" y="8896198"/>
            <a:ext cx="64392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invisible detail that separates good work from great.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6ca2378a9964330fafbeda80c3536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5b65983fc531d31658d8dd436f890f3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571500"/>
            <a:ext cx="268467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 · COMPANY PROFILE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16604590" y="571500"/>
            <a:ext cx="9052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· 20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238805"/>
            <a:ext cx="3810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432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THREE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3715207"/>
            <a:ext cx="3810305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0" i="1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III</a:t>
            </a:r>
            <a:pPr algn="l" indent="0" marL="0">
              <a:buNone/>
            </a:pPr>
            <a:r>
              <a:rPr lang="en-US" sz="9000" i="1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90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5715000"/>
            <a:ext cx="1143000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0" spc="-21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Projects</a:t>
            </a:r>
            <a:pPr algn="l" indent="0" marL="0">
              <a:buNone/>
            </a:pPr>
            <a:endParaRPr lang="en-US" sz="10500" dirty="0"/>
          </a:p>
          <a:p>
            <a:pPr algn="l" indent="0" marL="0">
              <a:buNone/>
            </a:pPr>
            <a:r>
              <a:rPr lang="en-US" sz="10500" spc="-21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&amp; the </a:t>
            </a:r>
            <a:pPr algn="l" indent="0" marL="0">
              <a:buNone/>
            </a:pPr>
            <a:r>
              <a:rPr lang="en-US" sz="10500" i="1" spc="-21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Partnership</a:t>
            </a:r>
            <a:pPr algn="l" indent="0" marL="0">
              <a:buNone/>
            </a:pPr>
            <a:r>
              <a:rPr lang="en-US" sz="10500" i="1" spc="-210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105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9144000"/>
            <a:ext cx="12382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pPr algn="l" indent="0" marL="0">
              <a:buNone/>
            </a:pPr>
            <a:r>
              <a:rPr lang="en-US" sz="15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WHO WE SERVE · FEATURED WORK · WHY PARTNER WITH IV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667098"/>
            <a:ext cx="8143646" cy="4667098"/>
          </a:xfrm>
          <a:prstGeom prst="rect">
            <a:avLst/>
          </a:prstGeom>
          <a:solidFill>
            <a:srgbClr val="161514"/>
          </a:solidFill>
          <a:ln w="12700">
            <a:solidFill>
              <a:srgbClr val="2A27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29954" y="4667098"/>
            <a:ext cx="8143646" cy="4667098"/>
          </a:xfrm>
          <a:prstGeom prst="rect">
            <a:avLst/>
          </a:prstGeom>
          <a:solidFill>
            <a:srgbClr val="1B1917"/>
          </a:solidFill>
          <a:ln w="12700">
            <a:solidFill>
              <a:srgbClr val="D66A4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571500"/>
            <a:ext cx="240761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III · WHO WE SERVE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611905" y="571500"/>
            <a:ext cx="9052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· 20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9648749"/>
            <a:ext cx="24195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MODELS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235172" y="9648749"/>
            <a:ext cx="13149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 / 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429207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432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MODELS · 01–02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000707"/>
            <a:ext cx="14287500" cy="106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400" spc="-168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Four ways to </a:t>
            </a:r>
            <a:pPr algn="l" indent="0" marL="0">
              <a:buNone/>
            </a:pPr>
            <a:r>
              <a:rPr lang="en-US" sz="8400" i="1" spc="-168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engage</a:t>
            </a:r>
            <a:pPr algn="l" indent="0" marL="0">
              <a:buNone/>
            </a:pPr>
            <a:r>
              <a:rPr lang="en-US" sz="8400" i="1" spc="-168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8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429000"/>
            <a:ext cx="15240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Pick the model that fits your project — IV shapes to it, not the other way around.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295705" y="5372100"/>
            <a:ext cx="73819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95705" y="5743346"/>
            <a:ext cx="7381951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spc="-96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Single Project.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1295705" y="6726326"/>
            <a:ext cx="73819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95705" y="7079285"/>
            <a:ext cx="7381951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3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One-off kitchen, dressing room, or vanity fit-out. Villa &amp; residential clients — the same discipline, scaled to a single home.</a:t>
            </a:r>
            <a:endParaRPr lang="en-US" sz="1800" dirty="0"/>
          </a:p>
        </p:txBody>
      </p:sp>
      <p:pic>
        <p:nvPicPr>
          <p:cNvPr id="15" name="Image 0" descr="gen-dedup-80a05bca9dfc0082f187c22fd8bc20c8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-399" b="-399"/>
          <a:stretch/>
        </p:blipFill>
        <p:spPr>
          <a:xfrm>
            <a:off x="1295705" y="5048402"/>
            <a:ext cx="7381951" cy="19202"/>
          </a:xfrm>
          <a:prstGeom prst="rect">
            <a:avLst/>
          </a:prstGeom>
        </p:spPr>
      </p:pic>
      <p:pic>
        <p:nvPicPr>
          <p:cNvPr id="16" name="Image 1" descr="gen-dedup-80a05bca9dfc0082f187c22fd8bc20c8.png">    </p:cNvPr>
          <p:cNvPicPr>
            <a:picLocks noChangeAspect="1"/>
          </p:cNvPicPr>
          <p:nvPr/>
        </p:nvPicPr>
        <p:blipFill>
          <a:blip r:embed="rId2"/>
          <a:srcRect l="0" r="0" t="-399" b="-399"/>
          <a:stretch/>
        </p:blipFill>
        <p:spPr>
          <a:xfrm>
            <a:off x="9610344" y="5048402"/>
            <a:ext cx="7381951" cy="192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610344" y="5372100"/>
            <a:ext cx="73819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FLAGSHIP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9610344" y="5743346"/>
            <a:ext cx="7381951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spc="-96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Developer Program.</a:t>
            </a:r>
            <a:endParaRPr lang="en-US" sz="4800" dirty="0"/>
          </a:p>
        </p:txBody>
      </p:sp>
      <p:sp>
        <p:nvSpPr>
          <p:cNvPr id="19" name="Text 15"/>
          <p:cNvSpPr txBox="1"/>
          <p:nvPr/>
        </p:nvSpPr>
        <p:spPr>
          <a:xfrm>
            <a:off x="9610344" y="6726326"/>
            <a:ext cx="73819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9610344" y="7079285"/>
            <a:ext cx="7381951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3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Ongoing multi-project relationships with volume pricing &amp; reserved capacity. 51–200+ units per project, phased delivery.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7285939" y="9620402"/>
            <a:ext cx="323057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Models 03 &amp; 04 continue overleaf.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10221163" y="9644177"/>
            <a:ext cx="7818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15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→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667098"/>
            <a:ext cx="8143646" cy="4667098"/>
          </a:xfrm>
          <a:prstGeom prst="rect">
            <a:avLst/>
          </a:prstGeom>
          <a:solidFill>
            <a:srgbClr val="161514"/>
          </a:solidFill>
          <a:ln w="12700">
            <a:solidFill>
              <a:srgbClr val="2A27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29954" y="4667098"/>
            <a:ext cx="8143646" cy="4667098"/>
          </a:xfrm>
          <a:prstGeom prst="rect">
            <a:avLst/>
          </a:prstGeom>
          <a:solidFill>
            <a:srgbClr val="161514"/>
          </a:solidFill>
          <a:ln w="12700">
            <a:solidFill>
              <a:srgbClr val="2A27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571500"/>
            <a:ext cx="240761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III · WHO WE SERVE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608247" y="571500"/>
            <a:ext cx="9052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· 20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9648749"/>
            <a:ext cx="24195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MODELS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206826" y="9648749"/>
            <a:ext cx="131582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/ 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429207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432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MODELS · 03–04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000707"/>
            <a:ext cx="16573500" cy="106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400" spc="-168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Or plug IV into </a:t>
            </a:r>
            <a:pPr algn="l" indent="0" marL="0">
              <a:buNone/>
            </a:pPr>
            <a:r>
              <a:rPr lang="en-US" sz="8400" i="1" spc="-168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your workflow</a:t>
            </a:r>
            <a:pPr algn="l" indent="0" marL="0">
              <a:buNone/>
            </a:pPr>
            <a:r>
              <a:rPr lang="en-US" sz="8400" i="1" spc="-168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8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429000"/>
            <a:ext cx="159261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When the account belongs to someone else — a contractor, an architect — IV operates as the manufacturing arm.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295705" y="5372100"/>
            <a:ext cx="73819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95705" y="5743346"/>
            <a:ext cx="7381951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spc="-9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Sub-contracted Mfg.</a:t>
            </a:r>
            <a:endParaRPr lang="en-US" sz="4500" dirty="0"/>
          </a:p>
        </p:txBody>
      </p:sp>
      <p:sp>
        <p:nvSpPr>
          <p:cNvPr id="13" name="Text 11"/>
          <p:cNvSpPr txBox="1"/>
          <p:nvPr/>
        </p:nvSpPr>
        <p:spPr>
          <a:xfrm>
            <a:off x="1295705" y="6687007"/>
            <a:ext cx="73819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95705" y="7039051"/>
            <a:ext cx="7381951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3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Contractors needing IV as the manufacturing arm — CNC-precise cabinet output, white-label if required.</a:t>
            </a:r>
            <a:endParaRPr lang="en-US" sz="1800" dirty="0"/>
          </a:p>
        </p:txBody>
      </p:sp>
      <p:pic>
        <p:nvPicPr>
          <p:cNvPr id="15" name="Image 0" descr="gen-dedup-80a05bca9dfc0082f187c22fd8bc20c8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-399" b="-399"/>
          <a:stretch/>
        </p:blipFill>
        <p:spPr>
          <a:xfrm>
            <a:off x="1295705" y="5048402"/>
            <a:ext cx="7381951" cy="1920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610344" y="5372100"/>
            <a:ext cx="73819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610344" y="5743346"/>
            <a:ext cx="7381951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spc="-9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Architect Program.</a:t>
            </a:r>
            <a:endParaRPr lang="en-US" sz="4500" dirty="0"/>
          </a:p>
        </p:txBody>
      </p:sp>
      <p:sp>
        <p:nvSpPr>
          <p:cNvPr id="18" name="Text 15"/>
          <p:cNvSpPr txBox="1"/>
          <p:nvPr/>
        </p:nvSpPr>
        <p:spPr>
          <a:xfrm>
            <a:off x="9610344" y="6687007"/>
            <a:ext cx="73819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610344" y="7039051"/>
            <a:ext cx="7381951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3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Architects requiring precise execution of custom-specified designs — full engineering review before manufacturing.</a:t>
            </a:r>
            <a:endParaRPr lang="en-US" sz="1800" dirty="0"/>
          </a:p>
        </p:txBody>
      </p:sp>
      <p:pic>
        <p:nvPicPr>
          <p:cNvPr id="20" name="Image 1" descr="gen-dedup-80a05bca9dfc0082f187c22fd8bc20c8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0" r="0" t="-399" b="-399"/>
          <a:stretch/>
        </p:blipFill>
        <p:spPr>
          <a:xfrm>
            <a:off x="9610344" y="5048402"/>
            <a:ext cx="7381951" cy="1920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953305" y="9620402"/>
            <a:ext cx="8382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Four models. One manufacturing discipline behind all of them.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80a7368d3b7b1b654546a41da165f5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914400" y="4667098"/>
            <a:ext cx="16459200" cy="9144"/>
          </a:xfrm>
          <a:prstGeom prst="rect">
            <a:avLst/>
          </a:prstGeom>
        </p:spPr>
      </p:pic>
      <p:pic>
        <p:nvPicPr>
          <p:cNvPr id="3" name="Image 1" descr="gen-dedup-9decbad056ed7d181755c27499695af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048402"/>
            <a:ext cx="8763935" cy="42867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571500"/>
            <a:ext cx="401238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III · FEATURED PROJECTS · 2025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16615562" y="571500"/>
            <a:ext cx="9052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· 20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9648749"/>
            <a:ext cx="18004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OF WORK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4631314" y="9648749"/>
            <a:ext cx="3087929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FLAGSHIP CASE · 01 / 03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1429207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432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OF WORK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000707"/>
            <a:ext cx="14287500" cy="106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400" spc="-168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Capacity, </a:t>
            </a:r>
            <a:pPr algn="l" indent="0" marL="0">
              <a:buNone/>
            </a:pPr>
            <a:r>
              <a:rPr lang="en-US" sz="8400" i="1" spc="-168" kern="0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proven</a:t>
            </a:r>
            <a:pPr algn="l" indent="0" marL="0">
              <a:buNone/>
            </a:pPr>
            <a:r>
              <a:rPr lang="en-US" sz="8400" i="1" spc="-168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84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429000"/>
            <a:ext cx="15240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capability deck without delivered projects is a brochure. This is not a brochure.</a:t>
            </a:r>
            <a:endParaRPr lang="en-US" sz="2100" dirty="0"/>
          </a:p>
        </p:txBody>
      </p:sp>
      <p:pic>
        <p:nvPicPr>
          <p:cNvPr id="11" name="Image 2" descr="gen-dedup-15e83a5b7f9d8f62f0385ecc570472e5.png">    </p:cNvPr>
          <p:cNvPicPr>
            <a:picLocks noChangeAspect="1"/>
          </p:cNvPicPr>
          <p:nvPr/>
        </p:nvPicPr>
        <p:blipFill>
          <a:blip r:embed="rId3"/>
          <a:srcRect l="0" r="0" t="-402" b="-402"/>
          <a:stretch/>
        </p:blipFill>
        <p:spPr>
          <a:xfrm>
            <a:off x="10096805" y="5048402"/>
            <a:ext cx="7276795" cy="192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096805" y="5315407"/>
            <a:ext cx="72777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· 01 · </a:t>
            </a:r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FLAGSHIP CASE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10096805" y="5648249"/>
            <a:ext cx="7717536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100" spc="-102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Zed East Residences.</a:t>
            </a:r>
            <a:endParaRPr lang="en-US" sz="5100" dirty="0"/>
          </a:p>
        </p:txBody>
      </p:sp>
      <p:sp>
        <p:nvSpPr>
          <p:cNvPr id="14" name="Text 9"/>
          <p:cNvSpPr txBox="1"/>
          <p:nvPr/>
        </p:nvSpPr>
        <p:spPr>
          <a:xfrm>
            <a:off x="10096805" y="6441948"/>
            <a:ext cx="72777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CAIRO · DEVELOPER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10096805" y="6928409"/>
            <a:ext cx="79635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3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340 kitchen units · full tower fit-out · phased delivery across 6 months.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0096805" y="7610551"/>
            <a:ext cx="35433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spc="-84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340</a:t>
            </a:r>
            <a:pPr algn="l" indent="0" marL="0">
              <a:buNone/>
            </a:pPr>
            <a:r>
              <a:rPr lang="en-US" sz="1600" spc="-84" kern="0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units</a:t>
            </a:r>
            <a:endParaRPr lang="en-US" sz="4200" dirty="0"/>
          </a:p>
        </p:txBody>
      </p:sp>
      <p:sp>
        <p:nvSpPr>
          <p:cNvPr id="17" name="Text 12"/>
          <p:cNvSpPr txBox="1"/>
          <p:nvPr/>
        </p:nvSpPr>
        <p:spPr>
          <a:xfrm>
            <a:off x="10096805" y="8201254"/>
            <a:ext cx="35433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73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KITCHEN UNITS DELIVERED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3830300" y="7610551"/>
            <a:ext cx="35433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spc="-84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</a:t>
            </a:r>
            <a:pPr algn="l" indent="0" marL="0">
              <a:buNone/>
            </a:pPr>
            <a:r>
              <a:rPr lang="en-US" sz="1600" spc="-84" kern="0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months</a:t>
            </a:r>
            <a:endParaRPr lang="en-US" sz="4200" dirty="0"/>
          </a:p>
        </p:txBody>
      </p:sp>
      <p:sp>
        <p:nvSpPr>
          <p:cNvPr id="19" name="Text 14"/>
          <p:cNvSpPr txBox="1"/>
          <p:nvPr/>
        </p:nvSpPr>
        <p:spPr>
          <a:xfrm>
            <a:off x="13830300" y="8201254"/>
            <a:ext cx="35433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73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PHASED DELIVERY WINDOW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0096805" y="8695944"/>
            <a:ext cx="72777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336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ON TIME · ZERO REJECTS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3810305" y="9411005"/>
            <a:ext cx="5906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— Signature kitchen, Zed East delivery batch (2025)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0eaf944c3c28b9f9dc012c7b1cdb19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10305"/>
            <a:ext cx="8149487" cy="3715207"/>
          </a:xfrm>
          <a:prstGeom prst="rect">
            <a:avLst/>
          </a:prstGeom>
        </p:spPr>
      </p:pic>
      <p:pic>
        <p:nvPicPr>
          <p:cNvPr id="3" name="Image 1" descr="gen-dedup-73d87fa0db02ca11510d5f63a0bdbe3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9954" y="3810305"/>
            <a:ext cx="8143646" cy="372126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571500"/>
            <a:ext cx="401238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III · FEATURED PROJECTS · 2025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16608247" y="571500"/>
            <a:ext cx="9052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· 20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9648749"/>
            <a:ext cx="18004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OF WORK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5029993" y="9648749"/>
            <a:ext cx="26773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CASES · 02 &amp; 03 / 03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1429207"/>
            <a:ext cx="8572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432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· 2025 · PROJECTS 02–03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000707"/>
            <a:ext cx="142875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spc="-144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Two more, </a:t>
            </a:r>
            <a:pPr algn="l" indent="0" marL="0">
              <a:buNone/>
            </a:pPr>
            <a:r>
              <a:rPr lang="en-US" sz="7200" i="1" spc="-144" kern="0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delivered</a:t>
            </a:r>
            <a:pPr algn="l" indent="0" marL="0">
              <a:buNone/>
            </a:pPr>
            <a:r>
              <a:rPr lang="en-US" sz="7200" i="1" spc="-144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72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7925105"/>
            <a:ext cx="814456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· 02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8220456"/>
            <a:ext cx="8144561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spc="-33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Marassi North Coast.</a:t>
            </a:r>
            <a:endParaRPr lang="en-US" sz="33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8734349"/>
            <a:ext cx="81445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336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SIDI ABDEL RAHMAN · SEASONAL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9048902"/>
            <a:ext cx="8830361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3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 villa kitchens + dressing rooms · coastal-grade PU finish · 14-week turnaround.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" y="9506102"/>
            <a:ext cx="81445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294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HANDED OVER JUNE 2025</a:t>
            </a:r>
            <a:endParaRPr lang="en-US" sz="1000" dirty="0"/>
          </a:p>
        </p:txBody>
      </p:sp>
      <p:pic>
        <p:nvPicPr>
          <p:cNvPr id="15" name="Image 2" descr="gen-dedup-38ae091dfa0f73a3a434217cbb61a448.png">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l="0" r="0" t="-401" b="-401"/>
          <a:stretch/>
        </p:blipFill>
        <p:spPr>
          <a:xfrm>
            <a:off x="914400" y="7715707"/>
            <a:ext cx="8143646" cy="192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29954" y="7925105"/>
            <a:ext cx="814456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· 03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9229954" y="8220456"/>
            <a:ext cx="8144561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spc="-33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Palm Hills Katameya.</a:t>
            </a:r>
            <a:endParaRPr lang="en-US" sz="3300" dirty="0"/>
          </a:p>
        </p:txBody>
      </p:sp>
      <p:sp>
        <p:nvSpPr>
          <p:cNvPr id="18" name="Text 13"/>
          <p:cNvSpPr txBox="1"/>
          <p:nvPr/>
        </p:nvSpPr>
        <p:spPr>
          <a:xfrm>
            <a:off x="9229954" y="8734349"/>
            <a:ext cx="81445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336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CAIRO · PRIVATE VILLA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9229954" y="9048902"/>
            <a:ext cx="88011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3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interior fit-out · 4 dressing rooms, 3 bathrooms, kitchen, home office.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9229954" y="9506102"/>
            <a:ext cx="81445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294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ARCHITECT SPECIFIED</a:t>
            </a:r>
            <a:endParaRPr lang="en-US" sz="1000" dirty="0"/>
          </a:p>
        </p:txBody>
      </p:sp>
      <p:pic>
        <p:nvPicPr>
          <p:cNvPr id="21" name="Image 3" descr="gen-dedup-38ae091dfa0f73a3a434217cbb61a448.png">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l="0" r="0" t="-401" b="-401"/>
          <a:stretch/>
        </p:blipFill>
        <p:spPr>
          <a:xfrm>
            <a:off x="9229954" y="7715707"/>
            <a:ext cx="8143646" cy="1920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571500"/>
            <a:ext cx="335493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III · WHY PARTNER WITH 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6608247" y="571500"/>
            <a:ext cx="9052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· 20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9648749"/>
            <a:ext cx="322326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 · OPERATING PRINCIPLE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238098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432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ONE-PAGE FIT CHECK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809598"/>
            <a:ext cx="14287500" cy="1028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00" spc="-162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Fit </a:t>
            </a:r>
            <a:pPr algn="l" indent="0" marL="0">
              <a:buNone/>
            </a:pPr>
            <a:r>
              <a:rPr lang="en-US" sz="8100" i="1" spc="-162" kern="0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Check</a:t>
            </a:r>
            <a:pPr algn="l" indent="0" marL="0">
              <a:buNone/>
            </a:pPr>
            <a:r>
              <a:rPr lang="en-US" sz="8100" i="1" spc="-162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8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43707"/>
            <a:ext cx="159261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one-page reference for whoever is evaluating IV against their project's requirements. Read left to right.</a:t>
            </a:r>
            <a:endParaRPr lang="en-US" sz="1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095598"/>
          <a:ext cx="16459200" cy="4849063"/>
        </p:xfrm>
        <a:graphic>
          <a:graphicData uri="http://schemas.openxmlformats.org/drawingml/2006/table">
            <a:tbl>
              <a:tblPr/>
              <a:tblGrid>
                <a:gridCol w="7242048"/>
                <a:gridCol w="1316736"/>
                <a:gridCol w="7900416"/>
              </a:tblGrid>
              <a:tr h="8081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D66A4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YOUR REQUIREMENT</a:t>
                      </a:r>
                      <a:endParaRPr lang="en-US" sz="11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22860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D66A4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IV'S CAPABILITY</a:t>
                      </a:r>
                      <a:endParaRPr lang="en-US" sz="11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i="1" dirty="0">
                          <a:solidFill>
                            <a:srgbClr val="F3EEE7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Consistent quality across many units</a:t>
                      </a:r>
                      <a:endParaRPr lang="en-US" sz="19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0" marR="228600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D66A4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→</a:t>
                      </a:r>
                      <a:endParaRPr lang="en-US" sz="2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8E8B8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CNC manufacturing to a single digital spec — unit 1 = unit 340.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0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i="1" dirty="0">
                          <a:solidFill>
                            <a:srgbClr val="F3EEE7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Fixed handover date</a:t>
                      </a:r>
                      <a:endParaRPr lang="en-US" sz="19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0" marR="228600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D66A4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→</a:t>
                      </a:r>
                      <a:endParaRPr lang="en-US" sz="2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8E8B8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Committed, tracked production schedule in writing — not a verbal estimate.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0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i="1" dirty="0">
                          <a:solidFill>
                            <a:srgbClr val="F3EEE7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Single accountable contact</a:t>
                      </a:r>
                      <a:endParaRPr lang="en-US" sz="19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0" marR="228600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D66A4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→</a:t>
                      </a:r>
                      <a:endParaRPr lang="en-US" sz="2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8E8B8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named project manager per account, from brief to walkthrough.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0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i="1" dirty="0">
                          <a:solidFill>
                            <a:srgbClr val="F3EEE7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Visibility during production</a:t>
                      </a:r>
                      <a:endParaRPr lang="en-US" sz="19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0" marR="228600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D66A4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→</a:t>
                      </a:r>
                      <a:endParaRPr lang="en-US" sz="2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8E8B8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Scheduled digital progress updates — photos + milestones + ETA.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0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1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i="1" dirty="0">
                          <a:solidFill>
                            <a:srgbClr val="F3EEE7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Ability to scale with your project</a:t>
                      </a:r>
                      <a:endParaRPr lang="en-US" sz="19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0" marR="228600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dirty="0">
                          <a:solidFill>
                            <a:srgbClr val="D66A4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→</a:t>
                      </a:r>
                      <a:endParaRPr lang="en-US" sz="2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8E8B8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Reserved capacity block for 51–200+ unit projects, phased handover.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28600" marR="0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914400" y="9334195"/>
            <a:ext cx="164592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"Our warranty terms are what we're prepared to </a:t>
            </a:r>
            <a:pPr algn="ctr" indent="0" marL="0">
              <a:buNone/>
            </a:pPr>
            <a:r>
              <a:rPr lang="en-US" sz="1900" i="1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put in writing</a:t>
            </a:r>
            <a:pPr algn="ctr" indent="0" marL="0">
              <a:buNone/>
            </a:pPr>
            <a:r>
              <a:rPr lang="en-US" sz="1900" i="1" dirty="0">
                <a:solidFill>
                  <a:srgbClr val="8E8B8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 — not what we hope you'll never have to use."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34cb3a7528f86b30ae24d7b40bcbe56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914400" y="8572500"/>
            <a:ext cx="7810805" cy="9144"/>
          </a:xfrm>
          <a:prstGeom prst="rect">
            <a:avLst/>
          </a:prstGeom>
        </p:spPr>
      </p:pic>
      <p:pic>
        <p:nvPicPr>
          <p:cNvPr id="3" name="Image 1" descr="gen-dedup-357c178a1c4c371787cec5d842bd3d6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pic>
        <p:nvPicPr>
          <p:cNvPr id="4" name="Image 2" descr="gen-dedup-c320892d887ba2ab9ef75c8bc298f606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3049402" y="1619402"/>
            <a:ext cx="4381805" cy="1904695"/>
          </a:xfrm>
          <a:prstGeom prst="rect">
            <a:avLst/>
          </a:prstGeom>
          <a:solidFill>
            <a:srgbClr val="0F0E0E">
              <a:alpha val="78000"/>
            </a:srgbClr>
          </a:solidFill>
          <a:ln w="12700">
            <a:solidFill>
              <a:srgbClr val="2A2723"/>
            </a:solidFill>
            <a:prstDash val="solid"/>
          </a:ln>
        </p:spPr>
      </p:sp>
      <p:sp>
        <p:nvSpPr>
          <p:cNvPr id="6" name="Text 1"/>
          <p:cNvSpPr txBox="1"/>
          <p:nvPr/>
        </p:nvSpPr>
        <p:spPr>
          <a:xfrm>
            <a:off x="13334695" y="1904695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336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IV SIGNATURE</a:t>
            </a:r>
            <a:endParaRPr lang="en-US" sz="1000" dirty="0"/>
          </a:p>
        </p:txBody>
      </p:sp>
      <p:pic>
        <p:nvPicPr>
          <p:cNvPr id="7" name="Image 3" descr="gen-dedup-36864e73bb7ad3dd71640b921ab14687.png">    </p:cNvPr>
          <p:cNvPicPr>
            <a:picLocks noChangeAspect="1"/>
          </p:cNvPicPr>
          <p:nvPr/>
        </p:nvPicPr>
        <p:blipFill>
          <a:blip r:embed="rId4"/>
          <a:srcRect l="0" r="0" t="-360" b="-360"/>
          <a:stretch/>
        </p:blipFill>
        <p:spPr>
          <a:xfrm>
            <a:off x="13334695" y="2162556"/>
            <a:ext cx="381305" cy="19202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13334695" y="2352751"/>
            <a:ext cx="38103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Fourth-generation craft — powered by Industry 4.0.</a:t>
            </a:r>
            <a:endParaRPr lang="en-US" sz="1800" dirty="0"/>
          </a:p>
        </p:txBody>
      </p:sp>
      <p:sp>
        <p:nvSpPr>
          <p:cNvPr id="9" name="Text 3"/>
          <p:cNvSpPr txBox="1"/>
          <p:nvPr/>
        </p:nvSpPr>
        <p:spPr>
          <a:xfrm>
            <a:off x="914400" y="1714500"/>
            <a:ext cx="7620610" cy="2848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0" spc="-390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IV</a:t>
            </a:r>
            <a:pPr algn="l" indent="0" marL="0">
              <a:buNone/>
            </a:pPr>
            <a:r>
              <a:rPr lang="en-US" sz="19500" spc="-390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19500" dirty="0"/>
          </a:p>
        </p:txBody>
      </p:sp>
      <p:sp>
        <p:nvSpPr>
          <p:cNvPr id="10" name="Text 4"/>
          <p:cNvSpPr txBox="1"/>
          <p:nvPr/>
        </p:nvSpPr>
        <p:spPr>
          <a:xfrm>
            <a:off x="914400" y="5143500"/>
            <a:ext cx="10858500" cy="933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spc="-144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Let's begin your </a:t>
            </a:r>
            <a:pPr algn="l" indent="0" marL="0">
              <a:buNone/>
            </a:pPr>
            <a:r>
              <a:rPr lang="en-US" sz="7200" i="1" spc="-144" kern="0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project</a:t>
            </a:r>
            <a:pPr algn="l" indent="0" marL="0">
              <a:buNone/>
            </a:pPr>
            <a:r>
              <a:rPr lang="en-US" sz="7200" i="1" spc="-144" kern="0" dirty="0">
                <a:solidFill>
                  <a:srgbClr val="D66A4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.</a:t>
            </a:r>
            <a:endParaRPr lang="en-US" sz="7200" dirty="0"/>
          </a:p>
        </p:txBody>
      </p:sp>
      <p:sp>
        <p:nvSpPr>
          <p:cNvPr id="11" name="Text 5"/>
          <p:cNvSpPr txBox="1"/>
          <p:nvPr/>
        </p:nvSpPr>
        <p:spPr>
          <a:xfrm>
            <a:off x="914400" y="6953098"/>
            <a:ext cx="7810805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3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space is measured, designed &amp; manufactured to fit only itself. Reach out for a consultation — the first conversation is where every IV project begins.</a:t>
            </a:r>
            <a:endParaRPr lang="en-US" sz="1800" dirty="0"/>
          </a:p>
        </p:txBody>
      </p:sp>
      <p:sp>
        <p:nvSpPr>
          <p:cNvPr id="12" name="Text 6"/>
          <p:cNvSpPr txBox="1"/>
          <p:nvPr/>
        </p:nvSpPr>
        <p:spPr>
          <a:xfrm>
            <a:off x="914400" y="8858707"/>
            <a:ext cx="225765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336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STUDIO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914400" y="9134856"/>
            <a:ext cx="2257654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By appointment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914400" y="9417406"/>
            <a:ext cx="2257654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3EE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Cairo, Egypt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3469234" y="8858707"/>
            <a:ext cx="27057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336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ENQUIRIES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3469234" y="9134856"/>
            <a:ext cx="27057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3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projects@iv-hswood.com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3469234" y="9420149"/>
            <a:ext cx="27057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 · on request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474866" y="8858707"/>
            <a:ext cx="225765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336" kern="0" dirty="0">
                <a:solidFill>
                  <a:srgbClr val="D66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6474866" y="9134856"/>
            <a:ext cx="2257654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3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iv-hswood.com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474866" y="9420149"/>
            <a:ext cx="22576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@iv · Instagram · LinkedIn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3144500" y="9430207"/>
            <a:ext cx="4191610" cy="409651"/>
          </a:xfrm>
          <a:prstGeom prst="rect">
            <a:avLst/>
          </a:prstGeom>
          <a:solidFill>
            <a:srgbClr val="0F0E0E">
              <a:alpha val="55000"/>
            </a:srgbClr>
          </a:solidFill>
          <a:ln w="12700">
            <a:solidFill>
              <a:srgbClr val="2A2723"/>
            </a:solidFill>
          </a:ln>
        </p:spPr>
        <p:txBody>
          <a:bodyPr wrap="none" lIns="114300" tIns="114300" rIns="114300" bIns="114300" rtlCol="0" anchor="ctr"/>
          <a:lstStyle/>
          <a:p>
            <a:pPr algn="ctr" indent="0" marL="0">
              <a:buNone/>
            </a:pPr>
            <a:r>
              <a:rPr lang="en-US" sz="1000" spc="336" kern="0" dirty="0">
                <a:solidFill>
                  <a:srgbClr val="F3EE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CAIRO, EGYPT · MMXXVI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914400" y="571500"/>
            <a:ext cx="15819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8E8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IN TOUCH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16577158" y="571500"/>
            <a:ext cx="90708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360" kern="0" dirty="0">
                <a:solidFill>
                  <a:srgbClr val="F3EEE7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· 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2026-07-23T14:54:22Z</dcterms:created>
  <dcterms:modified xsi:type="dcterms:W3CDTF">2026-07-23T14:54:22Z</dcterms:modified>
</cp:coreProperties>
</file>